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58" r:id="rId4"/>
    <p:sldId id="260" r:id="rId5"/>
    <p:sldId id="276" r:id="rId6"/>
    <p:sldId id="277" r:id="rId7"/>
    <p:sldId id="273" r:id="rId8"/>
    <p:sldId id="272" r:id="rId9"/>
    <p:sldId id="262" r:id="rId10"/>
    <p:sldId id="263" r:id="rId11"/>
    <p:sldId id="264" r:id="rId12"/>
    <p:sldId id="265" r:id="rId13"/>
    <p:sldId id="267" r:id="rId14"/>
    <p:sldId id="278" r:id="rId15"/>
    <p:sldId id="268" r:id="rId16"/>
    <p:sldId id="275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inda singh v" userId="a7a930c4dc2c8722" providerId="LiveId" clId="{421A3078-8C39-4FF4-B394-DD378DBDC7E0}"/>
    <pc:docChg chg="custSel modSld">
      <pc:chgData name="virinda singh v" userId="a7a930c4dc2c8722" providerId="LiveId" clId="{421A3078-8C39-4FF4-B394-DD378DBDC7E0}" dt="2026-04-08T08:30:14.191" v="13" actId="20577"/>
      <pc:docMkLst>
        <pc:docMk/>
      </pc:docMkLst>
      <pc:sldChg chg="modSp mod">
        <pc:chgData name="virinda singh v" userId="a7a930c4dc2c8722" providerId="LiveId" clId="{421A3078-8C39-4FF4-B394-DD378DBDC7E0}" dt="2026-04-08T08:29:57.567" v="11" actId="20577"/>
        <pc:sldMkLst>
          <pc:docMk/>
          <pc:sldMk cId="0" sldId="258"/>
        </pc:sldMkLst>
        <pc:spChg chg="mod">
          <ac:chgData name="virinda singh v" userId="a7a930c4dc2c8722" providerId="LiveId" clId="{421A3078-8C39-4FF4-B394-DD378DBDC7E0}" dt="2026-04-08T08:29:57.567" v="11" actId="20577"/>
          <ac:spMkLst>
            <pc:docMk/>
            <pc:sldMk cId="0" sldId="258"/>
            <ac:spMk id="117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30:14.191" v="13" actId="20577"/>
        <pc:sldMkLst>
          <pc:docMk/>
          <pc:sldMk cId="0" sldId="259"/>
        </pc:sldMkLst>
        <pc:spChg chg="mod">
          <ac:chgData name="virinda singh v" userId="a7a930c4dc2c8722" providerId="LiveId" clId="{421A3078-8C39-4FF4-B394-DD378DBDC7E0}" dt="2026-04-08T08:30:14.191" v="13" actId="20577"/>
          <ac:spMkLst>
            <pc:docMk/>
            <pc:sldMk cId="0" sldId="259"/>
            <ac:spMk id="130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47.383" v="8" actId="20577"/>
        <pc:sldMkLst>
          <pc:docMk/>
          <pc:sldMk cId="0" sldId="262"/>
        </pc:sldMkLst>
        <pc:spChg chg="mod">
          <ac:chgData name="virinda singh v" userId="a7a930c4dc2c8722" providerId="LiveId" clId="{421A3078-8C39-4FF4-B394-DD378DBDC7E0}" dt="2026-04-08T08:29:47.383" v="8" actId="20577"/>
          <ac:spMkLst>
            <pc:docMk/>
            <pc:sldMk cId="0" sldId="262"/>
            <ac:spMk id="160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38.273" v="6" actId="20577"/>
        <pc:sldMkLst>
          <pc:docMk/>
          <pc:sldMk cId="0" sldId="263"/>
        </pc:sldMkLst>
        <pc:spChg chg="mod">
          <ac:chgData name="virinda singh v" userId="a7a930c4dc2c8722" providerId="LiveId" clId="{421A3078-8C39-4FF4-B394-DD378DBDC7E0}" dt="2026-04-08T08:29:38.273" v="6" actId="20577"/>
          <ac:spMkLst>
            <pc:docMk/>
            <pc:sldMk cId="0" sldId="263"/>
            <ac:spMk id="168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34.154" v="5" actId="20577"/>
        <pc:sldMkLst>
          <pc:docMk/>
          <pc:sldMk cId="0" sldId="264"/>
        </pc:sldMkLst>
        <pc:spChg chg="mod">
          <ac:chgData name="virinda singh v" userId="a7a930c4dc2c8722" providerId="LiveId" clId="{421A3078-8C39-4FF4-B394-DD378DBDC7E0}" dt="2026-04-08T08:29:34.154" v="5" actId="20577"/>
          <ac:spMkLst>
            <pc:docMk/>
            <pc:sldMk cId="0" sldId="264"/>
            <ac:spMk id="180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26.485" v="4" actId="6549"/>
        <pc:sldMkLst>
          <pc:docMk/>
          <pc:sldMk cId="0" sldId="265"/>
        </pc:sldMkLst>
        <pc:spChg chg="mod">
          <ac:chgData name="virinda singh v" userId="a7a930c4dc2c8722" providerId="LiveId" clId="{421A3078-8C39-4FF4-B394-DD378DBDC7E0}" dt="2026-04-08T08:29:26.485" v="4" actId="6549"/>
          <ac:spMkLst>
            <pc:docMk/>
            <pc:sldMk cId="0" sldId="265"/>
            <ac:spMk id="190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21.577" v="3" actId="20577"/>
        <pc:sldMkLst>
          <pc:docMk/>
          <pc:sldMk cId="0" sldId="267"/>
        </pc:sldMkLst>
        <pc:spChg chg="mod">
          <ac:chgData name="virinda singh v" userId="a7a930c4dc2c8722" providerId="LiveId" clId="{421A3078-8C39-4FF4-B394-DD378DBDC7E0}" dt="2026-04-08T08:29:21.577" v="3" actId="20577"/>
          <ac:spMkLst>
            <pc:docMk/>
            <pc:sldMk cId="0" sldId="267"/>
            <ac:spMk id="210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08.707" v="1" actId="20577"/>
        <pc:sldMkLst>
          <pc:docMk/>
          <pc:sldMk cId="0" sldId="268"/>
        </pc:sldMkLst>
        <pc:spChg chg="mod">
          <ac:chgData name="virinda singh v" userId="a7a930c4dc2c8722" providerId="LiveId" clId="{421A3078-8C39-4FF4-B394-DD378DBDC7E0}" dt="2026-04-08T08:29:08.707" v="1" actId="20577"/>
          <ac:spMkLst>
            <pc:docMk/>
            <pc:sldMk cId="0" sldId="268"/>
            <ac:spMk id="220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01.563" v="0" actId="20577"/>
        <pc:sldMkLst>
          <pc:docMk/>
          <pc:sldMk cId="0" sldId="269"/>
        </pc:sldMkLst>
        <pc:spChg chg="mod">
          <ac:chgData name="virinda singh v" userId="a7a930c4dc2c8722" providerId="LiveId" clId="{421A3078-8C39-4FF4-B394-DD378DBDC7E0}" dt="2026-04-08T08:29:01.563" v="0" actId="20577"/>
          <ac:spMkLst>
            <pc:docMk/>
            <pc:sldMk cId="0" sldId="269"/>
            <ac:spMk id="226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52.539" v="9" actId="20577"/>
        <pc:sldMkLst>
          <pc:docMk/>
          <pc:sldMk cId="0" sldId="272"/>
        </pc:sldMkLst>
        <pc:spChg chg="mod">
          <ac:chgData name="virinda singh v" userId="a7a930c4dc2c8722" providerId="LiveId" clId="{421A3078-8C39-4FF4-B394-DD378DBDC7E0}" dt="2026-04-08T08:29:52.539" v="9" actId="20577"/>
          <ac:spMkLst>
            <pc:docMk/>
            <pc:sldMk cId="0" sldId="272"/>
            <ac:spMk id="149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30:03.195" v="12" actId="20577"/>
        <pc:sldMkLst>
          <pc:docMk/>
          <pc:sldMk cId="0" sldId="273"/>
        </pc:sldMkLst>
        <pc:spChg chg="mod">
          <ac:chgData name="virinda singh v" userId="a7a930c4dc2c8722" providerId="LiveId" clId="{421A3078-8C39-4FF4-B394-DD378DBDC7E0}" dt="2026-04-08T08:30:03.195" v="12" actId="20577"/>
          <ac:spMkLst>
            <pc:docMk/>
            <pc:sldMk cId="0" sldId="273"/>
            <ac:spMk id="149" creationId="{00000000-0000-0000-0000-000000000000}"/>
          </ac:spMkLst>
        </pc:spChg>
      </pc:sldChg>
      <pc:sldChg chg="modSp mod">
        <pc:chgData name="virinda singh v" userId="a7a930c4dc2c8722" providerId="LiveId" clId="{421A3078-8C39-4FF4-B394-DD378DBDC7E0}" dt="2026-04-08T08:29:14.461" v="2" actId="20577"/>
        <pc:sldMkLst>
          <pc:docMk/>
          <pc:sldMk cId="1216894242" sldId="278"/>
        </pc:sldMkLst>
        <pc:spChg chg="mod">
          <ac:chgData name="virinda singh v" userId="a7a930c4dc2c8722" providerId="LiveId" clId="{421A3078-8C39-4FF4-B394-DD378DBDC7E0}" dt="2026-04-08T08:29:14.461" v="2" actId="20577"/>
          <ac:spMkLst>
            <pc:docMk/>
            <pc:sldMk cId="1216894242" sldId="278"/>
            <ac:spMk id="210" creationId="{900C4A59-EB70-842E-B47A-23F3DF106A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5F537216-74E0-3FA5-21FC-1EB9A2A1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>
            <a:extLst>
              <a:ext uri="{FF2B5EF4-FFF2-40B4-BE49-F238E27FC236}">
                <a16:creationId xmlns:a16="http://schemas.microsoft.com/office/drawing/2014/main" id="{75AED71C-4B23-8A10-2050-539EB1433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12:notes">
            <a:extLst>
              <a:ext uri="{FF2B5EF4-FFF2-40B4-BE49-F238E27FC236}">
                <a16:creationId xmlns:a16="http://schemas.microsoft.com/office/drawing/2014/main" id="{8919AF64-C263-EEBE-A5D5-DEA90E1E8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62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7187381" y="5234419"/>
            <a:ext cx="4876800" cy="107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 </a:t>
            </a:r>
            <a:endParaRPr sz="2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400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Virinda Singh V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1306512" y="2759484"/>
            <a:ext cx="938022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SecureDoc: A SHA-256 Based Cryptographic Integrity Verification System for Digital Signatures Using MongoDB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1743958" y="274638"/>
            <a:ext cx="85501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1219200" y="2133772"/>
            <a:ext cx="10972800" cy="388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5450" lvl="0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Digital certificates are widely used but easy to forge.</a:t>
            </a:r>
          </a:p>
          <a:p>
            <a:pPr marL="425450" lvl="0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Manual verification is slow and unreliable.</a:t>
            </a:r>
          </a:p>
          <a:p>
            <a:pPr marL="425450" lvl="0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Visual inspection cannot detect hidden tampering.</a:t>
            </a:r>
          </a:p>
          <a:p>
            <a:pPr marL="425450" lvl="0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SecureDoc provides instant verification using cryptographic hashing.</a:t>
            </a:r>
          </a:p>
          <a:p>
            <a:pPr marL="425450" lvl="0" indent="-2857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follows a Zero-Trust approach for document authenticity.</a:t>
            </a:r>
          </a:p>
        </p:txBody>
      </p:sp>
      <p:sp>
        <p:nvSpPr>
          <p:cNvPr id="127" name="Google Shape;127;p16" descr="How to Build an Online Food Ordering System [Complete Guide]"/>
          <p:cNvSpPr/>
          <p:nvPr/>
        </p:nvSpPr>
        <p:spPr>
          <a:xfrm>
            <a:off x="6892414" y="2133600"/>
            <a:ext cx="5034116" cy="321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6" descr="How to Build an Online Food Ordering System [Complete Guide]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1365250" y="1901825"/>
            <a:ext cx="9670415" cy="408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Digital documents can be easily modified or forged.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verification depends on manual checks and visual trust.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File names and appearance do not guarantee authenticity.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There is no fast, reliable, and secure way to verify documents.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tamper-proof verification system is required.</a:t>
            </a:r>
          </a:p>
        </p:txBody>
      </p:sp>
      <p:sp>
        <p:nvSpPr>
          <p:cNvPr id="117" name="Google Shape;117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 </a:t>
            </a:r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</a:p>
        </p:txBody>
      </p:sp>
      <p:sp>
        <p:nvSpPr>
          <p:cNvPr id="137" name="Google Shape;137;p17"/>
          <p:cNvSpPr txBox="1">
            <a:spLocks noGrp="1"/>
          </p:cNvSpPr>
          <p:nvPr>
            <p:ph type="body" idx="1"/>
          </p:nvPr>
        </p:nvSpPr>
        <p:spPr>
          <a:xfrm>
            <a:off x="609600" y="1928495"/>
            <a:ext cx="5157470" cy="402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Prevent digital document forgery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Ensure document authenticity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 Zero-Trust verification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 cryptographic hashing (SHA-256)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Eliminate manual verification</a:t>
            </a:r>
          </a:p>
          <a:p>
            <a:pPr marL="520700" lvl="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4500" lvl="0" algn="just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103620" y="2032000"/>
            <a:ext cx="5003800" cy="4115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20700" lvl="0" indent="-3429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Enable instant verification</a:t>
            </a:r>
          </a:p>
          <a:p>
            <a:pPr marL="520700" lvl="0" indent="-3429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Maintain single source of truth</a:t>
            </a:r>
          </a:p>
          <a:p>
            <a:pPr marL="520700" lvl="0" indent="-3429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Protect document privacy</a:t>
            </a:r>
          </a:p>
          <a:p>
            <a:pPr marL="520700" lvl="0" indent="-3429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Avoid storing original files</a:t>
            </a:r>
          </a:p>
          <a:p>
            <a:pPr marL="520700" lvl="0" indent="-34290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Support scalable verification</a:t>
            </a:r>
          </a:p>
          <a:p>
            <a:pPr marL="520700" indent="-342900" algn="just">
              <a:lnSpc>
                <a:spcPct val="150000"/>
              </a:lnSpc>
              <a:spcBef>
                <a:spcPts val="560"/>
              </a:spcBef>
              <a:buSzPts val="2800"/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REVIEW</a:t>
            </a:r>
          </a:p>
        </p:txBody>
      </p:sp>
      <p:sp>
        <p:nvSpPr>
          <p:cNvPr id="137" name="Google Shape;137;p17"/>
          <p:cNvSpPr txBox="1">
            <a:spLocks noGrp="1"/>
          </p:cNvSpPr>
          <p:nvPr>
            <p:ph type="body" idx="1"/>
          </p:nvPr>
        </p:nvSpPr>
        <p:spPr>
          <a:xfrm>
            <a:off x="609600" y="1496695"/>
            <a:ext cx="10820400" cy="508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41300" algn="just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</a:p>
          <a:p>
            <a:pPr marL="342900" lvl="0" indent="-241300" algn="just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lang="en-US" altLang="en-US" sz="1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888355" y="1610360"/>
            <a:ext cx="6145530" cy="4925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241300" algn="just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lang="en-US" altLang="en-US" sz="18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72593" y="1563053"/>
          <a:ext cx="11661295" cy="48914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32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2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2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3699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Author And Year of Publish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TITLE OF PAPER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JOURNAL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TECHNIQUES USED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DISADVANTAGE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699">
                <a:tc>
                  <a:txBody>
                    <a:bodyPr/>
                    <a:lstStyle/>
                    <a:p>
                      <a:r>
                        <a:rPr lang="en-IN" sz="1600" dirty="0"/>
                        <a:t>K. G. Srinivasa, R. Ramesh</a:t>
                      </a:r>
                    </a:p>
                    <a:p>
                      <a:r>
                        <a:rPr lang="en-I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Secure Document Verification System Using Blockchain and Hashing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 + Hash Comparison+ SHA-256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Blockchain latency, high computational overhead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699">
                <a:tc>
                  <a:txBody>
                    <a:bodyPr/>
                    <a:lstStyle/>
                    <a:p>
                      <a:r>
                        <a:rPr lang="en-IN" dirty="0"/>
                        <a:t>Sania Begum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Blcokchain solution for Document Intergrity And forgery mitigation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IJRASET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 + IPFS + Hashing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Complex architecture, inefficient for large document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699">
                <a:tc>
                  <a:txBody>
                    <a:bodyPr/>
                    <a:lstStyle/>
                    <a:p>
                      <a:r>
                        <a:rPr lang="en-IN" dirty="0"/>
                        <a:t>Devika Sawant et al.,2025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Digital Document Verification using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IJRASET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Hash generation + On-chain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Delay in real-time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699">
                <a:tc>
                  <a:txBody>
                    <a:bodyPr/>
                    <a:lstStyle/>
                    <a:p>
                      <a:r>
                        <a:rPr lang="es-ES" dirty="0" err="1"/>
                        <a:t>Rasha</a:t>
                      </a:r>
                      <a:r>
                        <a:rPr lang="es-ES" dirty="0"/>
                        <a:t> M. Abd El-</a:t>
                      </a:r>
                      <a:r>
                        <a:rPr lang="es-ES" dirty="0" err="1"/>
                        <a:t>Aziz</a:t>
                      </a:r>
                      <a:r>
                        <a:rPr lang="es-ES" dirty="0"/>
                        <a:t> et al.,2020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Document Verification Scheme using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IJARET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Secure cloud + Hash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Increased attack surface via cloud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699">
                <a:tc>
                  <a:txBody>
                    <a:bodyPr/>
                    <a:lstStyle/>
                    <a:p>
                      <a:r>
                        <a:rPr lang="en-IN" dirty="0"/>
                        <a:t>Sharma A. et al.,2021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Tamper Detection in Digital Documents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Consumer Electronics Magazine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Hash comparison + Watermarking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SHA-1 insecure, false positives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</a:t>
            </a:r>
            <a:r>
              <a:rPr lang="en-US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1" y="1600201"/>
          <a:ext cx="11881945" cy="45259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76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6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31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Author And Year of Publish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TITLE OF PAPER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JOURNAL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TECHNIQUES USED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DISADVANTAGE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491">
                <a:tc>
                  <a:txBody>
                    <a:bodyPr/>
                    <a:lstStyle/>
                    <a:p>
                      <a:r>
                        <a:rPr lang="en-IN" dirty="0"/>
                        <a:t>Ayush Mishra et al.,2025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Decentralized Document Verification using Blockchain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JISEM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 + Hash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cost, difficult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491">
                <a:tc>
                  <a:txBody>
                    <a:bodyPr/>
                    <a:lstStyle/>
                    <a:p>
                      <a:r>
                        <a:rPr lang="en-IN" dirty="0" err="1"/>
                        <a:t>Zeshun</a:t>
                      </a:r>
                      <a:r>
                        <a:rPr lang="en-IN" dirty="0"/>
                        <a:t> Shi et al.,2022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Automated Data Integrity Verification using Blockchain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arXiv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Hash ledger + Smart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Scalability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491">
                <a:tc>
                  <a:txBody>
                    <a:bodyPr/>
                    <a:lstStyle/>
                    <a:p>
                      <a:r>
                        <a:rPr lang="en-IN" dirty="0"/>
                        <a:t>Thakkar H., Kumar S.,2021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Hash-Based Document Authentication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Conference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Merkle Tree + Hash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Storage overhead, setup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2956232" y="291568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SYSTEM</a:t>
            </a:r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609600" y="1631950"/>
            <a:ext cx="5624052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795" lvl="0" indent="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Algorithm Used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SHA-256 Cryptographic Hash Algorithm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Why SHA-256 is Used</a:t>
            </a:r>
            <a:endParaRPr lang="en-US" altLang="en-US" sz="18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Produces a fixed-length (256-bit) hash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One-way function – cannot be reversed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Ensures data integrity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Strong avalanche effect for tamper detection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Widely accepted secure cryptographic standard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Computationally efficient for verification systems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 </a:t>
            </a:r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483350" y="1834515"/>
            <a:ext cx="5099050" cy="286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System Advantages Over Existing Systems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423545" indent="-285750" algn="just">
              <a:lnSpc>
                <a:spcPct val="150000"/>
              </a:lnSpc>
              <a:spcBef>
                <a:spcPts val="435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No manual verification required</a:t>
            </a:r>
          </a:p>
          <a:p>
            <a:pPr marL="423545" indent="-285750" algn="just">
              <a:lnSpc>
                <a:spcPct val="150000"/>
              </a:lnSpc>
              <a:spcBef>
                <a:spcPts val="435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Does not store original documents</a:t>
            </a:r>
          </a:p>
          <a:p>
            <a:pPr marL="423545" indent="-285750" algn="just">
              <a:lnSpc>
                <a:spcPct val="150000"/>
              </a:lnSpc>
              <a:spcBef>
                <a:spcPts val="435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Instant and reliable verification</a:t>
            </a:r>
          </a:p>
          <a:p>
            <a:pPr marL="423545" indent="-285750" algn="just">
              <a:lnSpc>
                <a:spcPct val="150000"/>
              </a:lnSpc>
              <a:spcBef>
                <a:spcPts val="435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Tamper-proof authentication</a:t>
            </a:r>
          </a:p>
          <a:p>
            <a:pPr marL="423545" indent="-285750" algn="just">
              <a:lnSpc>
                <a:spcPct val="150000"/>
              </a:lnSpc>
              <a:spcBef>
                <a:spcPts val="435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Privacy-preserving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2956232" y="291568"/>
            <a:ext cx="62795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</a:t>
            </a:r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14731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795" lvl="0" indent="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Tools Used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Python – Core programming language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Flask – Web framework for backend logic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SHA-256 – Cryptographic hashing algorithm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MongoDB – NoSQL database for hash ledger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PyMongo – MongoDB–Python interface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HTML &amp; CSS – Frontend user interface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VS Code – Development environment</a:t>
            </a:r>
          </a:p>
          <a:p>
            <a:pPr marL="423545" lvl="0" indent="-285750" algn="just" rtl="0">
              <a:lnSpc>
                <a:spcPct val="150000"/>
              </a:lnSpc>
              <a:spcBef>
                <a:spcPts val="4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 &amp; GitHub – Version control and collaboration</a:t>
            </a:r>
          </a:p>
        </p:txBody>
      </p:sp>
      <p:sp>
        <p:nvSpPr>
          <p:cNvPr id="149" name="Google Shape;149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 </a:t>
            </a:r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588125" y="1779270"/>
            <a:ext cx="408749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Algorithm Steps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Upload digital document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Read file as binary data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Generate SHA-256 hash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Store hash with metadata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Upload document for verification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Regenerate document hash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Compare hash with database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Display authenticity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>
            <a:spLocks noGrp="1"/>
          </p:cNvSpPr>
          <p:nvPr>
            <p:ph type="title"/>
          </p:nvPr>
        </p:nvSpPr>
        <p:spPr>
          <a:xfrm>
            <a:off x="2111604" y="274638"/>
            <a:ext cx="8182466" cy="919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SYSTEM DESIGN/ BLOCK DIAGRAM</a:t>
            </a:r>
          </a:p>
        </p:txBody>
      </p:sp>
      <p:sp>
        <p:nvSpPr>
          <p:cNvPr id="160" name="Google Shape;160;p19"/>
          <p:cNvSpPr txBox="1">
            <a:spLocks noGrp="1"/>
          </p:cNvSpPr>
          <p:nvPr>
            <p:ph type="ftr" idx="11"/>
          </p:nvPr>
        </p:nvSpPr>
        <p:spPr>
          <a:xfrm>
            <a:off x="48768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 </a:t>
            </a:r>
          </a:p>
        </p:txBody>
      </p:sp>
      <p:sp>
        <p:nvSpPr>
          <p:cNvPr id="161" name="Google Shape;161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E91B8A0-EAC8-6C8C-B595-F661B0983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747" y="1194620"/>
            <a:ext cx="9189484" cy="51407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>
            <a:spLocks noGrp="1"/>
          </p:cNvSpPr>
          <p:nvPr>
            <p:ph type="title"/>
          </p:nvPr>
        </p:nvSpPr>
        <p:spPr>
          <a:xfrm>
            <a:off x="2331145" y="518580"/>
            <a:ext cx="7344410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altLang="en-US" sz="3200" b="1" dirty="0">
                <a:latin typeface="Times New Roman" panose="02020603050405020304" charset="0"/>
                <a:cs typeface="Times New Roman" panose="02020603050405020304" charset="0"/>
              </a:rPr>
              <a:t>Module 1: The Cryptographic Engine (Security Layer)</a:t>
            </a:r>
          </a:p>
        </p:txBody>
      </p:sp>
      <p:sp>
        <p:nvSpPr>
          <p:cNvPr id="168" name="Google Shape;168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 </a:t>
            </a:r>
          </a:p>
        </p:txBody>
      </p:sp>
      <p:sp>
        <p:nvSpPr>
          <p:cNvPr id="169" name="Google Shape;169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172" name="Google Shape;172;p20"/>
          <p:cNvSpPr txBox="1">
            <a:spLocks noGrp="1"/>
          </p:cNvSpPr>
          <p:nvPr>
            <p:ph type="body" idx="1"/>
          </p:nvPr>
        </p:nvSpPr>
        <p:spPr>
          <a:xfrm>
            <a:off x="575945" y="1830070"/>
            <a:ext cx="53721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28575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Core security component of the system</a:t>
            </a:r>
          </a:p>
          <a:p>
            <a:pPr marL="514350" lvl="0" indent="-28575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Uses SHA-256 cryptographic hash algorithm</a:t>
            </a:r>
          </a:p>
          <a:p>
            <a:pPr marL="514350" lvl="0" indent="-28575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Reads documents in binary stream format</a:t>
            </a:r>
          </a:p>
          <a:p>
            <a:pPr marL="514350" lvl="0" indent="-28575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Generates unique 256-bit document fingerprint</a:t>
            </a:r>
          </a:p>
          <a:p>
            <a:pPr marL="514350" lvl="0" indent="-28575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Ensures one-way irreversible hashing</a:t>
            </a:r>
          </a:p>
          <a:p>
            <a:pPr marL="514350" lvl="0" indent="-28575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Detects tampering using avalanche effect</a:t>
            </a:r>
          </a:p>
          <a:p>
            <a:pPr marL="514350" lvl="0" indent="-28575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Independent from storage and UI layers</a:t>
            </a:r>
          </a:p>
        </p:txBody>
      </p:sp>
      <p:pic>
        <p:nvPicPr>
          <p:cNvPr id="1026" name="Picture 2" descr="SHA-256 Hashing Algorithm: The Backbone of Blockchain">
            <a:extLst>
              <a:ext uri="{FF2B5EF4-FFF2-40B4-BE49-F238E27FC236}">
                <a16:creationId xmlns:a16="http://schemas.microsoft.com/office/drawing/2014/main" id="{CCB3C3E2-D290-1E8C-3989-1F3BCD4B5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793" y="2138896"/>
            <a:ext cx="4663614" cy="3115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>
            <a:spLocks noGrp="1"/>
          </p:cNvSpPr>
          <p:nvPr>
            <p:ph type="title"/>
          </p:nvPr>
        </p:nvSpPr>
        <p:spPr>
          <a:xfrm>
            <a:off x="1866506" y="274638"/>
            <a:ext cx="849355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alt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Module 2: NoSQL Ledger Management (Data Layer)</a:t>
            </a:r>
          </a:p>
        </p:txBody>
      </p:sp>
      <p:sp>
        <p:nvSpPr>
          <p:cNvPr id="180" name="Google Shape;180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 </a:t>
            </a:r>
          </a:p>
        </p:txBody>
      </p:sp>
      <p:sp>
        <p:nvSpPr>
          <p:cNvPr id="181" name="Google Shape;181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70333" y="1906416"/>
            <a:ext cx="51308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Stores document hash as permanent record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Uses MongoDB NoSQL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Maintains hash-based verification ledger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Stores only metadata, not original files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Indexed hash enables fast lookup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Prevents duplicate entries using upsert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Ensures data integrity and consistency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Scales efficiently for large datasets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B0124-9448-8B0D-99EE-87E743D82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255" y="1936434"/>
            <a:ext cx="5600578" cy="42082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>
            <a:spLocks noGrp="1"/>
          </p:cNvSpPr>
          <p:nvPr>
            <p:ph type="title"/>
          </p:nvPr>
        </p:nvSpPr>
        <p:spPr>
          <a:xfrm>
            <a:off x="1492250" y="274955"/>
            <a:ext cx="92125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altLang="en-US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Module 3: Web-Based Verification Portal (Interface Layer)</a:t>
            </a:r>
          </a:p>
        </p:txBody>
      </p:sp>
      <p:sp>
        <p:nvSpPr>
          <p:cNvPr id="187" name="Google Shape;187;p22"/>
          <p:cNvSpPr txBox="1">
            <a:spLocks noGrp="1"/>
          </p:cNvSpPr>
          <p:nvPr>
            <p:ph type="body" idx="1"/>
          </p:nvPr>
        </p:nvSpPr>
        <p:spPr>
          <a:xfrm>
            <a:off x="529590" y="1753235"/>
            <a:ext cx="556641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Provides user interaction with the system</a:t>
            </a:r>
          </a:p>
          <a:p>
            <a:pPr marL="469900" lvl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Developed using Flask web framework</a:t>
            </a:r>
          </a:p>
          <a:p>
            <a:pPr marL="469900" lvl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Handles document upload and verification</a:t>
            </a:r>
          </a:p>
          <a:p>
            <a:pPr marL="469900" lvl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Uses secure POST method for file transfer</a:t>
            </a:r>
          </a:p>
          <a:p>
            <a:pPr marL="469900" lvl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Triggers real-time hash generation</a:t>
            </a:r>
          </a:p>
          <a:p>
            <a:pPr marL="469900" lvl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Communicates with database for verification</a:t>
            </a:r>
          </a:p>
          <a:p>
            <a:pPr marL="469900" lvl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Displays authenticity status to users</a:t>
            </a:r>
          </a:p>
          <a:p>
            <a:pPr marL="469900" lvl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Acts as bridge between user and backend</a:t>
            </a:r>
          </a:p>
        </p:txBody>
      </p:sp>
      <p:sp>
        <p:nvSpPr>
          <p:cNvPr id="190" name="Google Shape;190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191" name="Google Shape;191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9C44CF-384F-581E-C15E-FE19BE2F3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01284"/>
            <a:ext cx="2199733" cy="24860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637691-16D5-5391-41B3-8135B9E18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284" y="1501284"/>
            <a:ext cx="2289326" cy="2464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B5F61-5196-D758-1382-F7EB1DE47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114" y="4098819"/>
            <a:ext cx="3076886" cy="2279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title"/>
          </p:nvPr>
        </p:nvSpPr>
        <p:spPr>
          <a:xfrm>
            <a:off x="1800520" y="274638"/>
            <a:ext cx="816911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</a:t>
            </a:r>
          </a:p>
        </p:txBody>
      </p:sp>
      <p:sp>
        <p:nvSpPr>
          <p:cNvPr id="210" name="Google Shape;210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211" name="Google Shape;211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6F343E-D3D6-6782-259D-986D598D0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694131"/>
              </p:ext>
            </p:extLst>
          </p:nvPr>
        </p:nvGraphicFramePr>
        <p:xfrm>
          <a:off x="1760111" y="1118392"/>
          <a:ext cx="8671777" cy="231060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02893">
                  <a:extLst>
                    <a:ext uri="{9D8B030D-6E8A-4147-A177-3AD203B41FA5}">
                      <a16:colId xmlns:a16="http://schemas.microsoft.com/office/drawing/2014/main" val="3719000447"/>
                    </a:ext>
                  </a:extLst>
                </a:gridCol>
                <a:gridCol w="1742221">
                  <a:extLst>
                    <a:ext uri="{9D8B030D-6E8A-4147-A177-3AD203B41FA5}">
                      <a16:colId xmlns:a16="http://schemas.microsoft.com/office/drawing/2014/main" val="1325651973"/>
                    </a:ext>
                  </a:extLst>
                </a:gridCol>
                <a:gridCol w="1742221">
                  <a:extLst>
                    <a:ext uri="{9D8B030D-6E8A-4147-A177-3AD203B41FA5}">
                      <a16:colId xmlns:a16="http://schemas.microsoft.com/office/drawing/2014/main" val="2461918387"/>
                    </a:ext>
                  </a:extLst>
                </a:gridCol>
                <a:gridCol w="1742221">
                  <a:extLst>
                    <a:ext uri="{9D8B030D-6E8A-4147-A177-3AD203B41FA5}">
                      <a16:colId xmlns:a16="http://schemas.microsoft.com/office/drawing/2014/main" val="1982469934"/>
                    </a:ext>
                  </a:extLst>
                </a:gridCol>
                <a:gridCol w="1742221">
                  <a:extLst>
                    <a:ext uri="{9D8B030D-6E8A-4147-A177-3AD203B41FA5}">
                      <a16:colId xmlns:a16="http://schemas.microsoft.com/office/drawing/2014/main" val="3295233086"/>
                    </a:ext>
                  </a:extLst>
                </a:gridCol>
              </a:tblGrid>
              <a:tr h="454264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Input File Size (KB)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Certificate Type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Hash Generation Time (ms)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Database Lookup Time (ms)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Total Time (ms)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19174"/>
                  </a:ext>
                </a:extLst>
              </a:tr>
              <a:tr h="454264">
                <a:tc>
                  <a:txBody>
                    <a:bodyPr/>
                    <a:lstStyle/>
                    <a:p>
                      <a:r>
                        <a:rPr lang="en-IN" sz="1600" dirty="0"/>
                        <a:t>150 KB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Professional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12.4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5.2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17.6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287368"/>
                  </a:ext>
                </a:extLst>
              </a:tr>
              <a:tr h="454264">
                <a:tc>
                  <a:txBody>
                    <a:bodyPr/>
                    <a:lstStyle/>
                    <a:p>
                      <a:r>
                        <a:rPr lang="en-IN" sz="1600" dirty="0"/>
                        <a:t>500 KB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Degree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28.1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5.5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33.6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573411"/>
                  </a:ext>
                </a:extLst>
              </a:tr>
              <a:tr h="454264">
                <a:tc>
                  <a:txBody>
                    <a:bodyPr/>
                    <a:lstStyle/>
                    <a:p>
                      <a:r>
                        <a:rPr lang="en-IN" sz="1600" dirty="0"/>
                        <a:t>1200 KB (1.2 MB)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General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45.3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6.1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51.4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16973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AB2E019-AD65-C3FD-8A28-90007A374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9332"/>
            <a:ext cx="5381113" cy="3228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E671AB-1770-B474-66DA-DF3A3D789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113" y="3795775"/>
            <a:ext cx="2844800" cy="2342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908B90-75AD-AC86-63DB-0E0C72985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0755" y="4005417"/>
            <a:ext cx="3001645" cy="20904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E00B6DD7-C5D7-6E01-7F4D-5F1B8801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>
            <a:extLst>
              <a:ext uri="{FF2B5EF4-FFF2-40B4-BE49-F238E27FC236}">
                <a16:creationId xmlns:a16="http://schemas.microsoft.com/office/drawing/2014/main" id="{EA90B3E7-2417-5CD5-4FE1-FD3F5B69CE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1442" y="196439"/>
            <a:ext cx="816911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 &amp; CONCLUSION </a:t>
            </a:r>
          </a:p>
        </p:txBody>
      </p:sp>
      <p:sp>
        <p:nvSpPr>
          <p:cNvPr id="210" name="Google Shape;210;p24">
            <a:extLst>
              <a:ext uri="{FF2B5EF4-FFF2-40B4-BE49-F238E27FC236}">
                <a16:creationId xmlns:a16="http://schemas.microsoft.com/office/drawing/2014/main" id="{900C4A59-EB70-842E-B47A-23F3DF106AD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211" name="Google Shape;211;p24">
            <a:extLst>
              <a:ext uri="{FF2B5EF4-FFF2-40B4-BE49-F238E27FC236}">
                <a16:creationId xmlns:a16="http://schemas.microsoft.com/office/drawing/2014/main" id="{B2399EAF-3372-20CD-1AAA-E905A5CAA3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C0889-785D-F0DB-17C8-C465808CCB55}"/>
              </a:ext>
            </a:extLst>
          </p:cNvPr>
          <p:cNvSpPr txBox="1"/>
          <p:nvPr/>
        </p:nvSpPr>
        <p:spPr>
          <a:xfrm>
            <a:off x="6096000" y="1485309"/>
            <a:ext cx="5404195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</a:p>
          <a:p>
            <a:pPr marL="412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SecureDoc provides a secure digital document verification system.</a:t>
            </a:r>
          </a:p>
          <a:p>
            <a:pPr marL="412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Ensures authenticity using cryptographic hashing.</a:t>
            </a:r>
          </a:p>
          <a:p>
            <a:pPr marL="412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Eliminates manual and visual verification.</a:t>
            </a:r>
          </a:p>
          <a:p>
            <a:pPr marL="412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Follows Zero-Trust security model.</a:t>
            </a:r>
          </a:p>
          <a:p>
            <a:pPr marL="412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Protects privacy by avoiding document storage.</a:t>
            </a:r>
          </a:p>
          <a:p>
            <a:pPr marL="412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Offers fast, reliable, and tamper-proof verification.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D3674-4B64-8E0C-8716-9220CA62AEDB}"/>
              </a:ext>
            </a:extLst>
          </p:cNvPr>
          <p:cNvSpPr txBox="1"/>
          <p:nvPr/>
        </p:nvSpPr>
        <p:spPr>
          <a:xfrm>
            <a:off x="432007" y="1562254"/>
            <a:ext cx="5404195" cy="4961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12750" indent="-285750" algn="just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Successfully generates SHA-256 hash for documents.</a:t>
            </a:r>
          </a:p>
          <a:p>
            <a:pPr marL="412750" indent="-285750" algn="just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Accurately detects any document modification.</a:t>
            </a:r>
          </a:p>
          <a:p>
            <a:pPr marL="412750" indent="-285750" algn="just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Instantly verifies document authenticity.</a:t>
            </a:r>
          </a:p>
          <a:p>
            <a:pPr marL="412750" indent="-285750" algn="just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Displays Authentic / Tampered status.</a:t>
            </a:r>
          </a:p>
          <a:p>
            <a:pPr marL="412750" indent="-285750" algn="just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Shows original owner details for valid documents.</a:t>
            </a:r>
          </a:p>
          <a:p>
            <a:pPr marL="412750" indent="-285750" algn="just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Prevents duplicate or fake registrations.</a:t>
            </a:r>
          </a:p>
          <a:p>
            <a:pPr marL="412750" indent="-285750" algn="just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Ensures fast and reliable verification.</a:t>
            </a:r>
          </a:p>
          <a:p>
            <a:pPr marL="412750" indent="-285750" algn="just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Maintains privacy by not storing documents.</a:t>
            </a:r>
          </a:p>
        </p:txBody>
      </p:sp>
    </p:spTree>
    <p:extLst>
      <p:ext uri="{BB962C8B-B14F-4D97-AF65-F5344CB8AC3E}">
        <p14:creationId xmlns:p14="http://schemas.microsoft.com/office/powerpoint/2010/main" val="121689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>
            <a:spLocks noGrp="1"/>
          </p:cNvSpPr>
          <p:nvPr>
            <p:ph type="title"/>
          </p:nvPr>
        </p:nvSpPr>
        <p:spPr>
          <a:xfrm>
            <a:off x="2497393" y="319087"/>
            <a:ext cx="7197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LIMITATIONS &amp; FUTURE SCOPE</a:t>
            </a:r>
          </a:p>
        </p:txBody>
      </p:sp>
      <p:sp>
        <p:nvSpPr>
          <p:cNvPr id="217" name="Google Shape;217;p25"/>
          <p:cNvSpPr txBox="1">
            <a:spLocks noGrp="1"/>
          </p:cNvSpPr>
          <p:nvPr>
            <p:ph type="body" idx="1"/>
          </p:nvPr>
        </p:nvSpPr>
        <p:spPr>
          <a:xfrm>
            <a:off x="818714" y="1942906"/>
            <a:ext cx="5131122" cy="412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lvl="0" indent="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600"/>
              <a:buNone/>
            </a:pPr>
            <a:r>
              <a:rPr 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Limitations</a:t>
            </a:r>
          </a:p>
          <a:p>
            <a:pPr marL="469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6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Hash verification fails if original document is lost</a:t>
            </a:r>
          </a:p>
          <a:p>
            <a:pPr marL="469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6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Cannot recover document from hash value</a:t>
            </a:r>
          </a:p>
          <a:p>
            <a:pPr marL="469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6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User must upload exact original file</a:t>
            </a:r>
          </a:p>
          <a:p>
            <a:pPr marL="469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6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Does not detect semantic forgery without hash change</a:t>
            </a:r>
          </a:p>
        </p:txBody>
      </p:sp>
      <p:sp>
        <p:nvSpPr>
          <p:cNvPr id="220" name="Google Shape;220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E05D9-34D2-CCC8-0793-BA9287AA116D}"/>
              </a:ext>
            </a:extLst>
          </p:cNvPr>
          <p:cNvSpPr txBox="1"/>
          <p:nvPr/>
        </p:nvSpPr>
        <p:spPr>
          <a:xfrm>
            <a:off x="6242165" y="1866063"/>
            <a:ext cx="5378245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Future Scope</a:t>
            </a:r>
            <a:endParaRPr lang="en-US" altLang="en-US"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Integration with blockchain for immutable ledger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QR code–based instant verification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Certificate expiry and auto-revocation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Mobile-friendly verification application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Multi-organization and global scalability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AI-based fraud pattern detection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IN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[1] K. G. Srinivasa, “A Secure Document Verification System using Blockchain and Hashing,” IEEE Access, vol. 6, 2018.</a:t>
            </a:r>
          </a:p>
          <a:p>
            <a:pPr marL="11430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[2] R. M. Abd El-Aziz, “Document Verification Scheme Using Blockchain Logics over Secured Cloud,” International Journal of Advanced Research in Engineering and Technology (IJARET), vol. 11, no. 6, 2020.</a:t>
            </a:r>
          </a:p>
          <a:p>
            <a:pPr marL="11430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[3] H. Thakkar, “Hash Based Document Authentication Scheme,” in Proceedings of the IEEE International Conference, 2021.</a:t>
            </a:r>
          </a:p>
          <a:p>
            <a:pPr marL="11430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[4] A. Sharma, “Tamper Detection in Digital Documents using Hash and Watermarking,” IEEE Consumer Electronics Magazine, vol. 10, no. 4, 2021.</a:t>
            </a:r>
          </a:p>
          <a:p>
            <a:pPr marL="11430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[5] S. Begum, “Blockchain Solution for Document Integrity and Forgery Mitigation,” International Journal for Research in Applied Science and Engineering Technology (IJRASET), vol. 13, no. 2, 2025.</a:t>
            </a:r>
          </a:p>
          <a:p>
            <a:pPr marL="11430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[6] D. Sawant, “Digital Document Verification using Blockchain,” International Journal for Research in Applied Science and Engineering Technology (IJRASET), vol. 13, no. 3, 2025.</a:t>
            </a:r>
          </a:p>
          <a:p>
            <a:pPr marL="11430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[7] Z. Shi, “Automated Data Integrity Verification Model using Blockchain,” arXiv preprint, 2022.</a:t>
            </a:r>
          </a:p>
          <a:p>
            <a:pPr marL="114300" indent="0" algn="just">
              <a:buNone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[8] A. Mishra, “Blockchain Based Decentralized Document Verification System,” Journal of Information Systems and Engineering Management (JISEM), vol. 10, no. 1,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  <p:pic>
        <p:nvPicPr>
          <p:cNvPr id="230" name="Google Shape;230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926102" y="2057875"/>
            <a:ext cx="7858921" cy="373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1175</Words>
  <Application>Microsoft Office PowerPoint</Application>
  <PresentationFormat>Widescreen</PresentationFormat>
  <Paragraphs>224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Noto Sans Symbols</vt:lpstr>
      <vt:lpstr>Times New Roman</vt:lpstr>
      <vt:lpstr>Office Theme</vt:lpstr>
      <vt:lpstr>PowerPoint Presentation</vt:lpstr>
      <vt:lpstr>INTRODUCTION</vt:lpstr>
      <vt:lpstr>PROBLEM STATEMENT</vt:lpstr>
      <vt:lpstr>OBJECTIVES</vt:lpstr>
      <vt:lpstr>LITERATURE REVIEW</vt:lpstr>
      <vt:lpstr>LITERATURE REVIEW</vt:lpstr>
      <vt:lpstr>PROPOSED SYSTEM</vt:lpstr>
      <vt:lpstr>METHODOLOGY</vt:lpstr>
      <vt:lpstr>SYSTEM DESIGN/ BLOCK DIAGRAM</vt:lpstr>
      <vt:lpstr>Module 1: The Cryptographic Engine (Security Layer)</vt:lpstr>
      <vt:lpstr>Module 2: NoSQL Ledger Management (Data Layer)</vt:lpstr>
      <vt:lpstr>Module 3: Web-Based Verification Portal (Interface Layer)</vt:lpstr>
      <vt:lpstr>RESULTS</vt:lpstr>
      <vt:lpstr>RESULTS  &amp; CONCLUSION </vt:lpstr>
      <vt:lpstr>LIMITATIONS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virinda singh v</dc:creator>
  <cp:lastModifiedBy>virinda singh v</cp:lastModifiedBy>
  <cp:revision>31</cp:revision>
  <dcterms:created xsi:type="dcterms:W3CDTF">2026-02-08T13:52:00Z</dcterms:created>
  <dcterms:modified xsi:type="dcterms:W3CDTF">2026-04-08T08:30:15Z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3433A230ACE84F379ECEB03865348691_13</vt:lpwstr>
  </property>
  <property fmtid="{D5CDD505-2E9C-101B-9397-08002B2CF9AE}" pid="3" name="KSOProductBuildVer">
    <vt:lpwstr>1033-12.2.0.23196</vt:lpwstr>
  </property>
</Properties>
</file>